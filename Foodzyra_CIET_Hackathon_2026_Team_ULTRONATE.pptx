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474720" cy="365760"/>
          </a:xfrm>
          <a:prstGeom prst="roundRect">
            <a:avLst/>
          </a:prstGeom>
          <a:solidFill>
            <a:srgbClr val="14532D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CIET INTERNAL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Food Waste Reduction Platform</a:t>
            </a:r>
          </a:p>
          <a:p>
            <a:pPr>
              <a:spcBef>
                <a:spcPts val="800"/>
              </a:spcBef>
              <a:defRPr sz="1800" b="1">
                <a:solidFill>
                  <a:srgbClr val="14B8A6"/>
                </a:solidFill>
              </a:defRPr>
            </a:pPr>
            <a:r>
              <a:t>Foodzyra: Intelligent Multi-Tier Surplus Rescue &amp; Resource Recovery</a:t>
            </a:r>
          </a:p>
          <a:p>
            <a:pPr>
              <a:spcBef>
                <a:spcPts val="600"/>
              </a:spcBef>
              <a:defRPr sz="1300" i="1">
                <a:solidFill>
                  <a:srgbClr val="94A3B8"/>
                </a:solidFill>
              </a:defRPr>
            </a:pPr>
            <a:r>
              <a:t>"Rescue. Redistribute. Recover. Regenerate. Every Resource. Zero Waste."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38404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PROJECT METADATA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Team Name: Team ULTRONATE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Department: Artificial Intelligence &amp; Data Science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Institution: Coimbatore Institute of Engineering and Technology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Focus Track: Smart Cities &amp; Sustainable Bioeconomy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3291840"/>
            <a:ext cx="658368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B8A6"/>
                </a:solidFill>
              </a:defRPr>
            </a:pPr>
            <a:r>
              <a:t>TEAM MEMBERS (AI &amp; DS)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👤 Manish V  |  Reg: 71052508043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Role: AI Models, Vision Pipeline &amp; System Architecture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👤 Dharshan C  |  Reg: 71052508022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Role: Full-Stack Development, Mobile PWA &amp; Offline Engine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👤 Arivarasu M  |  Reg: 71052508010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Role: Algorithm Design, Geolocation Proximity &amp; Routing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👤 Gajendran K  |  Reg: 71052508025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Role: EPA Hierarchy Engine, Analytics &amp; User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CIET INTERNAL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Statement: Global Crisis &amp; Systemic Inefficiencies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1.05 Billion Tonnes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Global Food Wasted Annually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19% of all food available to consumers is discarded worldwide while 783 million people endure chronic hunger.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8 - 10% Global GHG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Methane &amp; Carbon Footprint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Rotting landfill food generates potent methane (CH4) emissions, carrying 28x the warming potential of CO2.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t>$1 Trillion Loss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Economic &amp; Supply Inefficiency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Massive financial, labor, and clean water losses caused by fragmented communication and zero cascade recovery.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ROOT CAUSES ADDRESSED BY FOODZYRA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Information Asymmetry: Donors lack real-time visibility and instant dispatch channels to connect surplus meals with nearby NGOs before shelf-life expires.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Binary Disposal Mindset: Commercial food is treated as binary (either sold at 100% price or dumped into trash bins), missing discount flash sales.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Absence of Cascade Recovery: Zero automated routing to separate edible human food from animal feed, biomethanation, and compostable organic matter.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CIET INTERNAL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Proposed Solution: 4-Tier Circular Bioeconomy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TIER 1: REDISTRIBUTE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Edible Surplus to NGOs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Automated instant routing of fresh, prepared meals to verified food banks, orphanages, and community shelters.</a:t>
            </a:r>
          </a:p>
          <a:p>
            <a:pPr>
              <a:spcBef>
                <a:spcPts val="1200"/>
              </a:spcBef>
              <a:defRPr sz="900">
                <a:solidFill>
                  <a:srgbClr val="22C55E"/>
                </a:solidFill>
              </a:defRPr>
            </a:pPr>
            <a:r>
              <a:t>✓ EPA Scale Aligned</a:t>
            </a:r>
            <a:br/>
            <a:r>
              <a:t>✓ Verified Impact</a:t>
            </a:r>
            <a:br/>
            <a:r>
              <a:t>✓ Real-time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B8A6"/>
                </a:solidFill>
              </a:defRPr>
            </a:pPr>
            <a:r>
              <a:t>TIER 2: RECOVER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Dynamic Markdown Market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Near-expiry retail/restaurant surplus offered to budget-conscious citizens via dynamic discount flash sales.</a:t>
            </a:r>
          </a:p>
          <a:p>
            <a:pPr>
              <a:spcBef>
                <a:spcPts val="1200"/>
              </a:spcBef>
              <a:defRPr sz="900">
                <a:solidFill>
                  <a:srgbClr val="14B8A6"/>
                </a:solidFill>
              </a:defRPr>
            </a:pPr>
            <a:r>
              <a:t>✓ EPA Scale Aligned</a:t>
            </a:r>
            <a:br/>
            <a:r>
              <a:t>✓ Verified Impact</a:t>
            </a:r>
            <a:br/>
            <a:r>
              <a:t>✓ Real-time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TIER 3: REPURPOSE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Feed Animals &amp; Sanctuaries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Pre-consumer kitchen trimmings and safe leftovers diverted to local cattle farms and animal rescue shelters.</a:t>
            </a:r>
          </a:p>
          <a:p>
            <a:pPr>
              <a:spcBef>
                <a:spcPts val="1200"/>
              </a:spcBef>
              <a:defRPr sz="900">
                <a:solidFill>
                  <a:srgbClr val="F59E0B"/>
                </a:solidFill>
              </a:defRPr>
            </a:pPr>
            <a:r>
              <a:t>✓ EPA Scale Aligned</a:t>
            </a:r>
            <a:br/>
            <a:r>
              <a:t>✓ Verified Impact</a:t>
            </a:r>
            <a:br/>
            <a:r>
              <a:t>✓ Real-time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855F7"/>
                </a:solidFill>
              </a:defRPr>
            </a:pPr>
            <a:r>
              <a:t>TIER 4: REGENERATE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Biogas &amp; Organic Compost</a:t>
            </a:r>
          </a:p>
          <a:p>
            <a:pPr>
              <a:spcBef>
                <a:spcPts val="800"/>
              </a:spcBef>
              <a:defRPr sz="1000">
                <a:solidFill>
                  <a:srgbClr val="94A3B8"/>
                </a:solidFill>
              </a:defRPr>
            </a:pPr>
            <a:r>
              <a:t>Inedible spoiled organic fractions converted to biomethane clean energy and nutrient-rich organic soil.</a:t>
            </a:r>
          </a:p>
          <a:p>
            <a:pPr>
              <a:spcBef>
                <a:spcPts val="1200"/>
              </a:spcBef>
              <a:defRPr sz="900">
                <a:solidFill>
                  <a:srgbClr val="A855F7"/>
                </a:solidFill>
              </a:defRPr>
            </a:pPr>
            <a:r>
              <a:t>✓ EPA Scale Aligned</a:t>
            </a:r>
            <a:br/>
            <a:r>
              <a:t>✓ Verified Impact</a:t>
            </a:r>
            <a:br/>
            <a:r>
              <a:t>✓ Real-time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CIET INTERNAL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Approach &amp;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CORE ARCHITECTURAL STACK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Mobile &amp; Frontend: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React 18, TypeScript, Tailwind CSS, Lucide Icons, responsive PWA.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Offline Service Worker: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Cache-first caching for zero-latency operation during network dropouts.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USDA Nutritional DB: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Standard Reference Legacy database mapping for exact macro calculation.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Geolocation Services: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Browser Geolocation API + Great-Circle proximity dispatch calculations.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Security &amp; Tokens: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Cryptographically generated 6-digit claim codes &amp; Role-Based Access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END-TO-END WORKFLOW PIPELINE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► Step 1: Ingestion &amp; Scan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Donor logs listing or captures plate photo with smartphone camera.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► Step 2: AI Safety &amp; Quality Gate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Validates shelf-life, food prep timestamp, and dietary compliance flags.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► Step 3: EPA Hierarchy Routing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Classifier routes food into optimal tier (Donation, Sale, Feed, Compost).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► Step 4: Proximity Matching &amp; Ping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Haversine engine identifies candidate NGOs within 5 km and pings volunteers.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► Step 5: Verified Handover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Recipient presents secure claim code; ledger updates carbon offset &amp; meal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CIET INTERNAL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Algorithmic Formulations &amp; Mathematical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1. Haversine Proximity &amp; Dispatch Engine</a:t>
            </a:r>
          </a:p>
          <a:p>
            <a:pPr>
              <a:spcBef>
                <a:spcPts val="300"/>
              </a:spcBef>
              <a:defRPr sz="950">
                <a:solidFill>
                  <a:srgbClr val="F8FAFC"/>
                </a:solidFill>
              </a:defRPr>
            </a:pPr>
            <a:r>
              <a:t>Calculates great-circle geodesic distance on Earth sphere:</a:t>
            </a:r>
            <a:br/>
            <a:r>
              <a:t>d = 2R · arcsin(√(sin²(Δφ/2) + cos(φ₁)cos(φ₂)sin²(Δλ/2)))</a:t>
            </a:r>
            <a:br/>
            <a:br/>
            <a:r>
              <a:t>Priority Score = w₁·(1 - d/d_max) + w₂·(1 / (T_exp - T_now)) + w₃·U_capacity</a:t>
            </a:r>
            <a:br/>
            <a:r>
              <a:t>Ensures highest-urgency perishables are routed to the closest capable NGO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B8A6"/>
                </a:solidFill>
              </a:defRPr>
            </a:pPr>
            <a:r>
              <a:t>2. Decoupled 2-Stage Vision-to-USDA Pipeline</a:t>
            </a:r>
          </a:p>
          <a:p>
            <a:pPr>
              <a:spcBef>
                <a:spcPts val="300"/>
              </a:spcBef>
              <a:defRPr sz="950">
                <a:solidFill>
                  <a:srgbClr val="F8FAFC"/>
                </a:solidFill>
              </a:defRPr>
            </a:pPr>
            <a:r>
              <a:t>Stage 1 (Perception): Multimodal Vision model segments plate components &amp; detects area percentage.</a:t>
            </a:r>
            <a:br/>
            <a:br/>
            <a:r>
              <a:t>Stage 2 (Deterministic Grounding): Maps items to standard USDA FoodData Central reference values.</a:t>
            </a:r>
            <a:br/>
            <a:r>
              <a:t>Eliminates LLM hallucination and provides mathematically exact calorie and nutrition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3. Dynamic Decay &amp; Markdown Pricing Algorithm</a:t>
            </a:r>
          </a:p>
          <a:p>
            <a:pPr>
              <a:spcBef>
                <a:spcPts val="300"/>
              </a:spcBef>
              <a:defRPr sz="950">
                <a:solidFill>
                  <a:srgbClr val="F8FAFC"/>
                </a:solidFill>
              </a:defRPr>
            </a:pPr>
            <a:r>
              <a:t>Calculates optimal markdown percentage as closing time approaches:</a:t>
            </a:r>
            <a:br/>
            <a:r>
              <a:t>Discount Rate D(t) = D_min + (D_max - D_min) · (1 - t_remaining / T_total)^γ</a:t>
            </a:r>
            <a:br/>
            <a:br/>
            <a:r>
              <a:t>Where γ &gt; 1 creates an exponential urgency curve maximizing sell-through while securing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CIET INTERNAL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AI Types &amp; Deep Learning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Computer Vision (CV)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Deep Multimodal CNN &amp; Vision Transformer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Real-time visual food item identification.</a:t>
            </a:r>
            <a:br/>
            <a:r>
              <a:t>• Automated dish composition &amp; portion boundary segmentation.</a:t>
            </a:r>
            <a:br/>
            <a:r>
              <a:t>• Visual freshness estimation from smartphone camera uploads.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4B8A6"/>
                </a:solidFill>
              </a:defRPr>
            </a:pPr>
            <a:r>
              <a:t>Decision AI / Expert System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Heuristic Multi-Criteria Rule Engine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Automated routing across the 4 EPA recovery channels.</a:t>
            </a:r>
            <a:br/>
            <a:r>
              <a:t>• Validates food hygiene, allergen flags, and shelf-life thresholds.</a:t>
            </a:r>
            <a:br/>
            <a:r>
              <a:t>• Guarantees zero compliance violations before public listing.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Predictive AI / Regression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Time-Series Surplus Forecasting Models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Forecasts restaurant surplus peaks based on day, weather, and footfall.</a:t>
            </a:r>
            <a:br/>
            <a:r>
              <a:t>• Optimizes discount degradation parameters for flash sales.</a:t>
            </a:r>
            <a:br/>
            <a:r>
              <a:t>• Predicts local shelter demand to prevent donation surpluses.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Natural Language AI</a:t>
            </a:r>
          </a:p>
          <a:p>
            <a:pPr>
              <a:spcBef>
                <a:spcPts val="400"/>
              </a:spcBef>
              <a:defRPr sz="1000" b="1">
                <a:solidFill>
                  <a:srgbClr val="F8FAFC"/>
                </a:solidFill>
              </a:defRPr>
            </a:pPr>
            <a:r>
              <a:t>Intent Parsing &amp; Dispatch Synthesis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• Parses unstructured donation descriptions into standardized items.</a:t>
            </a:r>
            <a:br/>
            <a:r>
              <a:t>• Automatically generates localized dispatch alerts for volunteers.</a:t>
            </a:r>
            <a:br/>
            <a:r>
              <a:t>• Multilingual accessibility support for diverse community workers.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CIET INTERNAL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Feasibility, Viability &amp; Operational Resilience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PLATFORM FEASIBILITY &amp; ADOPTION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Zero Barrier PWA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No app store downloads required; runs on any browser and low-cost smartphones with minimal footprint (&lt;2 MB).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Offline-First Readiness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Local caching ensures listings can be created inside basement restaurant kitchens with spotty reception.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✔ Operational Scalability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Modular decoupled services allow instant expansion to university campuses, hotel chains, and municipal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CHALLENGES &amp; MITIGATION STRATEGIES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🛡 Food Safety &amp; Liability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Strict mandatory prep timestamp verification, safety checklists, and alignment with Good Samaritan donation legal protection.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🛡 Last-Mile Transit Delay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Automated broadcast to verified volunteer networks within a tight 3 - 5 km geofence with turn-by-turn routing.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🛡 Quality Verification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Dual-sided verification token system and recipient feedback scores to maintain network integrity.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CIET INTERNAL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Quantifiable Impact &amp; UN SDG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Social Impact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Direct Hunger Relief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• Measurable meals rescued.</a:t>
            </a:r>
            <a:br/>
            <a:r>
              <a:t>• Direct support to orphanages &amp; shelters.</a:t>
            </a:r>
            <a:br/>
            <a:r>
              <a:t>• Dignified access to nutritious food.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Environmental Impact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Landfill &amp; GHG Mitigation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• 1 kg rescued food ≈ 2.5 kg CO2e saved.</a:t>
            </a:r>
            <a:br/>
            <a:r>
              <a:t>• Substantial reduction in landfill methane.</a:t>
            </a:r>
            <a:br/>
            <a:r>
              <a:t>• Conserves water embedded in agriculture.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46888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Economic Impact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Circular Value Recovery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• Recovers lost revenue for food businesses.</a:t>
            </a:r>
            <a:br/>
            <a:r>
              <a:t>• Delivers 50-70% savings to low-income buyers.</a:t>
            </a:r>
            <a:br/>
            <a:r>
              <a:t>• Generates ESG compliance &amp; tax credits.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2C55E"/>
                </a:solidFill>
              </a:defRPr>
            </a:pPr>
            <a:r>
              <a:t>ALIGNMENT WITH UNITED NATIONS SUSTAINABLE DEVELOPMENT GOALS (SDGs)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SDG 2: Zero Hunger: Eliminating hunger by diverting safe edible food to vulnerable populations.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SDG 12.3: Responsible Consumption: Directly targets halving per capita global food waste by 2030.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SDG 13: Climate Action: Preventing organic landfill decomposition and cutting fugitive methane emissions.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• SDG 17: Partnerships for the Goals: Uniting restaurants, retail, NGOs, volunteers, and municipal waste agencies.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CIET INTERNAL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Research References &amp; Standards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ACADEMIC &amp; INSTITUTIONAL GROUNDING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1. Food and Agriculture Organization (FAO)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The State of Food and Agriculture: Moving forward on food loss and waste reduction (Rome, 2019/2023).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2. United Nations Environment Programme (UNEP)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Food Waste Index Report 2024: Think Eat Save — Tracking progress toward SDG 12.3.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3. United States Environmental Protection Agency (US EPA)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From Field to Table: Understanding the Food Recovery Hierarchy and Wasted Food Scale (EPA 530-R-23-005, 2023).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4. USDA Agricultural Research Service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FoodData Central Standard Reference Legacy Database for exact nutritional mapping (USDA ARS, 2024).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</a:defRPr>
            </a:pPr>
            <a:r>
              <a:t>• 5. Team ULTRONATE Technical Report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Foodzyra: AI-Powered Multi-Tier Circular Bioeconomy Framework for Surplus Food Rescue (CIET AI &amp; DS Department, 2026).</a:t>
            </a:r>
          </a:p>
          <a:p>
            <a:pPr>
              <a:spcBef>
                <a:spcPts val="1600"/>
              </a:spcBef>
              <a:defRPr sz="1400" b="1">
                <a:solidFill>
                  <a:srgbClr val="14B8A6"/>
                </a:solidFill>
              </a:defRPr>
            </a:pPr>
            <a:r>
              <a:t>Thank You! |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